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39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705798"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833199" y="2393156"/>
            <a:ext cx="5809417" cy="833199"/>
          </a:xfrm>
          <a:prstGeom prst="rect">
            <a:avLst/>
          </a:prstGeom>
          <a:noFill/>
          <a:ln/>
        </p:spPr>
        <p:txBody>
          <a:bodyPr wrap="none" rtlCol="0" anchor="t"/>
          <a:lstStyle/>
          <a:p>
            <a:pPr marL="0" indent="0">
              <a:lnSpc>
                <a:spcPts val="6561"/>
              </a:lnSpc>
              <a:buNone/>
            </a:pPr>
            <a:r>
              <a:rPr lang="en-US" sz="5249" b="1" kern="0" spc="-157" dirty="0">
                <a:solidFill>
                  <a:srgbClr val="FFFFFF"/>
                </a:solidFill>
                <a:latin typeface="Inter" pitchFamily="34" charset="0"/>
                <a:ea typeface="Inter" pitchFamily="34" charset="-122"/>
                <a:cs typeface="Inter" pitchFamily="34" charset="-120"/>
              </a:rPr>
              <a:t>Chatbot Using NLP</a:t>
            </a:r>
            <a:endParaRPr lang="en-US" sz="5249" dirty="0"/>
          </a:p>
        </p:txBody>
      </p:sp>
      <p:sp>
        <p:nvSpPr>
          <p:cNvPr id="5" name="Text 3"/>
          <p:cNvSpPr/>
          <p:nvPr/>
        </p:nvSpPr>
        <p:spPr>
          <a:xfrm>
            <a:off x="833199" y="3559612"/>
            <a:ext cx="7477601" cy="1066205"/>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Discovering the power of chatbots and Natural Language Processing (NLP) technology in creating conversational AI experiences that are truly intelligent and engaging.</a:t>
            </a:r>
            <a:endParaRPr lang="en-US" sz="2000" dirty="0"/>
          </a:p>
        </p:txBody>
      </p:sp>
      <p:sp>
        <p:nvSpPr>
          <p:cNvPr id="6" name="Text 4"/>
          <p:cNvSpPr/>
          <p:nvPr/>
        </p:nvSpPr>
        <p:spPr>
          <a:xfrm>
            <a:off x="833199" y="4875727"/>
            <a:ext cx="7477601" cy="1316526"/>
          </a:xfrm>
          <a:prstGeom prst="rect">
            <a:avLst/>
          </a:prstGeom>
          <a:noFill/>
          <a:ln/>
        </p:spPr>
        <p:txBody>
          <a:bodyPr wrap="non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By : Ambedkar</a:t>
            </a:r>
          </a:p>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       Pradeep</a:t>
            </a:r>
          </a:p>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       Rohan Kumar</a:t>
            </a:r>
          </a:p>
          <a:p>
            <a:pPr marL="0" indent="0">
              <a:lnSpc>
                <a:spcPts val="2799"/>
              </a:lnSpc>
              <a:buNone/>
            </a:pPr>
            <a:endParaRPr lang="en-US" sz="1750" dirty="0"/>
          </a:p>
        </p:txBody>
      </p:sp>
      <p:sp>
        <p:nvSpPr>
          <p:cNvPr id="7" name="Text 5"/>
          <p:cNvSpPr/>
          <p:nvPr/>
        </p:nvSpPr>
        <p:spPr>
          <a:xfrm>
            <a:off x="833199" y="5481042"/>
            <a:ext cx="7477601" cy="355402"/>
          </a:xfrm>
          <a:prstGeom prst="rect">
            <a:avLst/>
          </a:prstGeom>
          <a:noFill/>
          <a:ln/>
        </p:spPr>
        <p:txBody>
          <a:bodyPr wrap="none" rtlCol="0" anchor="t"/>
          <a:lstStyle/>
          <a:p>
            <a:pPr marL="0" indent="0">
              <a:lnSpc>
                <a:spcPts val="2799"/>
              </a:lnSpc>
              <a:buNone/>
            </a:pPr>
            <a:endParaRPr lang="en-US" sz="1750" dirty="0"/>
          </a:p>
        </p:txBody>
      </p:sp>
      <p:pic>
        <p:nvPicPr>
          <p:cNvPr id="8" name="Image 0" descr="preencoded.png"/>
          <p:cNvPicPr>
            <a:picLocks noChangeAspect="1"/>
          </p:cNvPicPr>
          <p:nvPr/>
        </p:nvPicPr>
        <p:blipFill>
          <a:blip r:embed="rId3"/>
          <a:stretch>
            <a:fillRect/>
          </a:stretch>
        </p:blipFill>
        <p:spPr>
          <a:xfrm>
            <a:off x="8310800" y="0"/>
            <a:ext cx="6394998"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6319599" y="3067883"/>
            <a:ext cx="4889302" cy="694373"/>
          </a:xfrm>
          <a:prstGeom prst="rect">
            <a:avLst/>
          </a:prstGeom>
          <a:noFill/>
          <a:ln/>
        </p:spPr>
        <p:txBody>
          <a:bodyPr wrap="non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What is a Chatbot?</a:t>
            </a:r>
            <a:endParaRPr lang="en-US" sz="4374" dirty="0"/>
          </a:p>
        </p:txBody>
      </p:sp>
      <p:sp>
        <p:nvSpPr>
          <p:cNvPr id="5" name="Text 3"/>
          <p:cNvSpPr/>
          <p:nvPr/>
        </p:nvSpPr>
        <p:spPr>
          <a:xfrm>
            <a:off x="6319599" y="4095512"/>
            <a:ext cx="7477601" cy="1066205"/>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A chatbot is a computer program designed to simulate human-like conversations. Unlike humans, chatbots are available 24/7, can handle multiple conversations simultaneously, and provide instant responses.</a:t>
            </a:r>
            <a:endParaRPr lang="en-US" sz="2000" dirty="0"/>
          </a:p>
        </p:txBody>
      </p:sp>
      <p:pic>
        <p:nvPicPr>
          <p:cNvPr id="6" name="Image 0" descr="preencoded.png"/>
          <p:cNvPicPr>
            <a:picLocks noChangeAspect="1"/>
          </p:cNvPicPr>
          <p:nvPr/>
        </p:nvPicPr>
        <p:blipFill>
          <a:blip r:embed="rId3"/>
          <a:stretch>
            <a:fillRect/>
          </a:stretch>
        </p:blipFill>
        <p:spPr>
          <a:xfrm>
            <a:off x="0" y="0"/>
            <a:ext cx="5486400" cy="822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3811">
            <a:solidFill>
              <a:srgbClr val="565151"/>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272525">
              <a:alpha val="80000"/>
            </a:srgbClr>
          </a:solidFill>
          <a:ln/>
        </p:spPr>
        <p:txBody>
          <a:bodyPr/>
          <a:lstStyle/>
          <a:p>
            <a:endParaRPr lang="en-US"/>
          </a:p>
        </p:txBody>
      </p:sp>
      <p:sp>
        <p:nvSpPr>
          <p:cNvPr id="6" name="Text 3"/>
          <p:cNvSpPr/>
          <p:nvPr/>
        </p:nvSpPr>
        <p:spPr>
          <a:xfrm>
            <a:off x="2037993" y="3067883"/>
            <a:ext cx="7127200" cy="694373"/>
          </a:xfrm>
          <a:prstGeom prst="rect">
            <a:avLst/>
          </a:prstGeom>
          <a:noFill/>
          <a:ln/>
        </p:spPr>
        <p:txBody>
          <a:bodyPr wrap="non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Why Use NLP for Chatbots?</a:t>
            </a:r>
            <a:endParaRPr lang="en-US" sz="4374" dirty="0"/>
          </a:p>
        </p:txBody>
      </p:sp>
      <p:sp>
        <p:nvSpPr>
          <p:cNvPr id="7" name="Text 4"/>
          <p:cNvSpPr/>
          <p:nvPr/>
        </p:nvSpPr>
        <p:spPr>
          <a:xfrm>
            <a:off x="2037993" y="4095512"/>
            <a:ext cx="10554414" cy="1066205"/>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NLP enables chatbots to understand and interpret human language, allowing them to comprehend user intents, extract meaning from text input, and generate appropriate responses. This makes interactions with chatbots more natural and effective.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833199" y="901779"/>
            <a:ext cx="7477601" cy="1388745"/>
          </a:xfrm>
          <a:prstGeom prst="rect">
            <a:avLst/>
          </a:prstGeom>
          <a:noFill/>
          <a:ln/>
        </p:spPr>
        <p:txBody>
          <a:bodyPr wrap="squar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NLP Techniques for Chatbot Development</a:t>
            </a:r>
            <a:endParaRPr lang="en-US" sz="4374" dirty="0"/>
          </a:p>
        </p:txBody>
      </p:sp>
      <p:sp>
        <p:nvSpPr>
          <p:cNvPr id="5" name="Shape 3"/>
          <p:cNvSpPr/>
          <p:nvPr/>
        </p:nvSpPr>
        <p:spPr>
          <a:xfrm>
            <a:off x="833199" y="2797373"/>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6" name="Text 4"/>
          <p:cNvSpPr/>
          <p:nvPr/>
        </p:nvSpPr>
        <p:spPr>
          <a:xfrm>
            <a:off x="1004292" y="2839045"/>
            <a:ext cx="15775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1</a:t>
            </a:r>
            <a:endParaRPr lang="en-US" sz="2624" dirty="0"/>
          </a:p>
        </p:txBody>
      </p:sp>
      <p:sp>
        <p:nvSpPr>
          <p:cNvPr id="7" name="Text 5"/>
          <p:cNvSpPr/>
          <p:nvPr/>
        </p:nvSpPr>
        <p:spPr>
          <a:xfrm>
            <a:off x="1555313" y="2873693"/>
            <a:ext cx="2334220" cy="347186"/>
          </a:xfrm>
          <a:prstGeom prst="rect">
            <a:avLst/>
          </a:prstGeom>
          <a:noFill/>
          <a:ln/>
        </p:spPr>
        <p:txBody>
          <a:bodyPr wrap="none" rtlCol="0" anchor="t"/>
          <a:lstStyle/>
          <a:p>
            <a:pPr marL="0" indent="0">
              <a:lnSpc>
                <a:spcPts val="2734"/>
              </a:lnSpc>
              <a:buNone/>
            </a:pPr>
            <a:r>
              <a:rPr lang="en-US" sz="2800" b="1" kern="0" spc="-66" dirty="0">
                <a:solidFill>
                  <a:srgbClr val="E5E0DF"/>
                </a:solidFill>
                <a:latin typeface="Inter" pitchFamily="34" charset="0"/>
                <a:ea typeface="Inter" pitchFamily="34" charset="-122"/>
                <a:cs typeface="Inter" pitchFamily="34" charset="-120"/>
              </a:rPr>
              <a:t>Intent Recognition</a:t>
            </a:r>
            <a:endParaRPr lang="en-US" sz="2800" dirty="0"/>
          </a:p>
        </p:txBody>
      </p:sp>
      <p:sp>
        <p:nvSpPr>
          <p:cNvPr id="8" name="Text 6"/>
          <p:cNvSpPr/>
          <p:nvPr/>
        </p:nvSpPr>
        <p:spPr>
          <a:xfrm>
            <a:off x="1555313" y="3443049"/>
            <a:ext cx="2905601" cy="2132409"/>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Use machine learning algorithms to identify the purpose or intention behind user queries, enabling accurate response generation.</a:t>
            </a:r>
            <a:endParaRPr lang="en-US" sz="2000" dirty="0"/>
          </a:p>
        </p:txBody>
      </p:sp>
      <p:sp>
        <p:nvSpPr>
          <p:cNvPr id="9" name="Shape 7"/>
          <p:cNvSpPr/>
          <p:nvPr/>
        </p:nvSpPr>
        <p:spPr>
          <a:xfrm>
            <a:off x="4683085" y="2797373"/>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10" name="Text 8"/>
          <p:cNvSpPr/>
          <p:nvPr/>
        </p:nvSpPr>
        <p:spPr>
          <a:xfrm>
            <a:off x="4835128" y="2839045"/>
            <a:ext cx="19585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2</a:t>
            </a:r>
            <a:endParaRPr lang="en-US" sz="2624" dirty="0"/>
          </a:p>
        </p:txBody>
      </p:sp>
      <p:sp>
        <p:nvSpPr>
          <p:cNvPr id="11" name="Text 9"/>
          <p:cNvSpPr/>
          <p:nvPr/>
        </p:nvSpPr>
        <p:spPr>
          <a:xfrm>
            <a:off x="5405199" y="2873693"/>
            <a:ext cx="2221944" cy="347186"/>
          </a:xfrm>
          <a:prstGeom prst="rect">
            <a:avLst/>
          </a:prstGeom>
          <a:noFill/>
          <a:ln/>
        </p:spPr>
        <p:txBody>
          <a:bodyPr wrap="none" rtlCol="0" anchor="t"/>
          <a:lstStyle/>
          <a:p>
            <a:pPr marL="0" indent="0">
              <a:lnSpc>
                <a:spcPts val="2734"/>
              </a:lnSpc>
              <a:buNone/>
            </a:pPr>
            <a:r>
              <a:rPr lang="en-US" sz="2800" b="1" kern="0" spc="-66" dirty="0">
                <a:solidFill>
                  <a:srgbClr val="E5E0DF"/>
                </a:solidFill>
                <a:latin typeface="Inter" pitchFamily="34" charset="0"/>
                <a:ea typeface="Inter" pitchFamily="34" charset="-122"/>
                <a:cs typeface="Inter" pitchFamily="34" charset="-120"/>
              </a:rPr>
              <a:t>Entity Extraction</a:t>
            </a:r>
            <a:endParaRPr lang="en-US" sz="2800" dirty="0"/>
          </a:p>
        </p:txBody>
      </p:sp>
      <p:sp>
        <p:nvSpPr>
          <p:cNvPr id="12" name="Text 10"/>
          <p:cNvSpPr/>
          <p:nvPr/>
        </p:nvSpPr>
        <p:spPr>
          <a:xfrm>
            <a:off x="5405199" y="3443049"/>
            <a:ext cx="2905601" cy="2132409"/>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Extract specific pieces of information from user messages, such as names, dates, locations, and more, to provide personalized responses.</a:t>
            </a:r>
            <a:endParaRPr lang="en-US" sz="2000" dirty="0"/>
          </a:p>
        </p:txBody>
      </p:sp>
      <p:sp>
        <p:nvSpPr>
          <p:cNvPr id="13" name="Shape 11"/>
          <p:cNvSpPr/>
          <p:nvPr/>
        </p:nvSpPr>
        <p:spPr>
          <a:xfrm>
            <a:off x="833199" y="5971223"/>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14" name="Text 12"/>
          <p:cNvSpPr/>
          <p:nvPr/>
        </p:nvSpPr>
        <p:spPr>
          <a:xfrm>
            <a:off x="981432" y="6012894"/>
            <a:ext cx="20347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3</a:t>
            </a:r>
            <a:endParaRPr lang="en-US" sz="2624" dirty="0"/>
          </a:p>
        </p:txBody>
      </p:sp>
      <p:sp>
        <p:nvSpPr>
          <p:cNvPr id="15" name="Text 13"/>
          <p:cNvSpPr/>
          <p:nvPr/>
        </p:nvSpPr>
        <p:spPr>
          <a:xfrm>
            <a:off x="1555313" y="6047542"/>
            <a:ext cx="2471380" cy="347186"/>
          </a:xfrm>
          <a:prstGeom prst="rect">
            <a:avLst/>
          </a:prstGeom>
          <a:noFill/>
          <a:ln/>
        </p:spPr>
        <p:txBody>
          <a:bodyPr wrap="none" rtlCol="0" anchor="t"/>
          <a:lstStyle/>
          <a:p>
            <a:pPr marL="0" indent="0">
              <a:lnSpc>
                <a:spcPts val="2734"/>
              </a:lnSpc>
              <a:buNone/>
            </a:pPr>
            <a:r>
              <a:rPr lang="en-US" sz="2800" b="1" kern="0" spc="-66" dirty="0">
                <a:solidFill>
                  <a:srgbClr val="E5E0DF"/>
                </a:solidFill>
                <a:latin typeface="Inter" pitchFamily="34" charset="0"/>
                <a:ea typeface="Inter" pitchFamily="34" charset="-122"/>
                <a:cs typeface="Inter" pitchFamily="34" charset="-120"/>
              </a:rPr>
              <a:t>Sentiment Analysis</a:t>
            </a:r>
            <a:endParaRPr lang="en-US" sz="2800" dirty="0"/>
          </a:p>
        </p:txBody>
      </p:sp>
      <p:sp>
        <p:nvSpPr>
          <p:cNvPr id="16" name="Text 14"/>
          <p:cNvSpPr/>
          <p:nvPr/>
        </p:nvSpPr>
        <p:spPr>
          <a:xfrm>
            <a:off x="1555313" y="6616898"/>
            <a:ext cx="6755487" cy="710803"/>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Analyze the sentiment of user input to gauge emotions and tailor chatbot responses accordingly, ensuring empathetic interactions.</a:t>
            </a:r>
            <a:endParaRPr lang="en-US" sz="2000" dirty="0"/>
          </a:p>
        </p:txBody>
      </p:sp>
      <p:pic>
        <p:nvPicPr>
          <p:cNvPr id="17" name="Image 0" descr="preencoded.png"/>
          <p:cNvPicPr>
            <a:picLocks noChangeAspect="1"/>
          </p:cNvPicPr>
          <p:nvPr/>
        </p:nvPicPr>
        <p:blipFill>
          <a:blip r:embed="rId3"/>
          <a:stretch>
            <a:fillRect/>
          </a:stretch>
        </p:blipFill>
        <p:spPr>
          <a:xfrm>
            <a:off x="9144000" y="0"/>
            <a:ext cx="5486400"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2037993" y="825460"/>
            <a:ext cx="10330577" cy="694373"/>
          </a:xfrm>
          <a:prstGeom prst="rect">
            <a:avLst/>
          </a:prstGeom>
          <a:noFill/>
          <a:ln/>
        </p:spPr>
        <p:txBody>
          <a:bodyPr wrap="non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Data Preprocessing for Chatbot Training</a:t>
            </a:r>
            <a:endParaRPr lang="en-US" sz="4374" dirty="0"/>
          </a:p>
        </p:txBody>
      </p:sp>
      <p:sp>
        <p:nvSpPr>
          <p:cNvPr id="5" name="Shape 3"/>
          <p:cNvSpPr/>
          <p:nvPr/>
        </p:nvSpPr>
        <p:spPr>
          <a:xfrm>
            <a:off x="7293054" y="1964174"/>
            <a:ext cx="44410" cy="5439966"/>
          </a:xfrm>
          <a:prstGeom prst="rect">
            <a:avLst/>
          </a:prstGeom>
          <a:solidFill>
            <a:srgbClr val="140099"/>
          </a:solidFill>
          <a:ln/>
        </p:spPr>
        <p:txBody>
          <a:bodyPr/>
          <a:lstStyle/>
          <a:p>
            <a:endParaRPr lang="en-US"/>
          </a:p>
        </p:txBody>
      </p:sp>
      <p:sp>
        <p:nvSpPr>
          <p:cNvPr id="6" name="Shape 4"/>
          <p:cNvSpPr/>
          <p:nvPr/>
        </p:nvSpPr>
        <p:spPr>
          <a:xfrm>
            <a:off x="7565172" y="2365474"/>
            <a:ext cx="777597" cy="44410"/>
          </a:xfrm>
          <a:prstGeom prst="rect">
            <a:avLst/>
          </a:prstGeom>
          <a:solidFill>
            <a:srgbClr val="140099"/>
          </a:solidFill>
          <a:ln/>
        </p:spPr>
        <p:txBody>
          <a:bodyPr/>
          <a:lstStyle/>
          <a:p>
            <a:endParaRPr lang="en-US"/>
          </a:p>
        </p:txBody>
      </p:sp>
      <p:sp>
        <p:nvSpPr>
          <p:cNvPr id="7" name="Shape 5"/>
          <p:cNvSpPr/>
          <p:nvPr/>
        </p:nvSpPr>
        <p:spPr>
          <a:xfrm>
            <a:off x="7065228" y="2137767"/>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8" name="Text 6"/>
          <p:cNvSpPr/>
          <p:nvPr/>
        </p:nvSpPr>
        <p:spPr>
          <a:xfrm>
            <a:off x="7236321" y="2179439"/>
            <a:ext cx="15775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1</a:t>
            </a:r>
            <a:endParaRPr lang="en-US" sz="2624" dirty="0"/>
          </a:p>
        </p:txBody>
      </p:sp>
      <p:sp>
        <p:nvSpPr>
          <p:cNvPr id="9" name="Text 7"/>
          <p:cNvSpPr/>
          <p:nvPr/>
        </p:nvSpPr>
        <p:spPr>
          <a:xfrm>
            <a:off x="8537258" y="2186345"/>
            <a:ext cx="2221944" cy="347186"/>
          </a:xfrm>
          <a:prstGeom prst="rect">
            <a:avLst/>
          </a:prstGeom>
          <a:noFill/>
          <a:ln/>
        </p:spPr>
        <p:txBody>
          <a:bodyPr wrap="none" rtlCol="0" anchor="t"/>
          <a:lstStyle/>
          <a:p>
            <a:pPr marL="0" indent="0" algn="l">
              <a:lnSpc>
                <a:spcPts val="2734"/>
              </a:lnSpc>
              <a:buNone/>
            </a:pPr>
            <a:r>
              <a:rPr lang="en-US" sz="2800" b="1" kern="0" spc="-66" dirty="0">
                <a:solidFill>
                  <a:srgbClr val="E5E0DF"/>
                </a:solidFill>
                <a:latin typeface="Inter" pitchFamily="34" charset="0"/>
                <a:ea typeface="Inter" pitchFamily="34" charset="-122"/>
                <a:cs typeface="Inter" pitchFamily="34" charset="-120"/>
              </a:rPr>
              <a:t>Data Collection</a:t>
            </a:r>
            <a:endParaRPr lang="en-US" sz="2800" dirty="0"/>
          </a:p>
        </p:txBody>
      </p:sp>
      <p:sp>
        <p:nvSpPr>
          <p:cNvPr id="10" name="Text 8"/>
          <p:cNvSpPr/>
          <p:nvPr/>
        </p:nvSpPr>
        <p:spPr>
          <a:xfrm>
            <a:off x="8537258" y="2755702"/>
            <a:ext cx="4055150" cy="1421606"/>
          </a:xfrm>
          <a:prstGeom prst="rect">
            <a:avLst/>
          </a:prstGeom>
          <a:noFill/>
          <a:ln/>
        </p:spPr>
        <p:txBody>
          <a:bodyPr wrap="square" rtlCol="0" anchor="t"/>
          <a:lstStyle/>
          <a:p>
            <a:pPr marL="0" indent="0" algn="l">
              <a:lnSpc>
                <a:spcPts val="2799"/>
              </a:lnSpc>
              <a:buNone/>
            </a:pPr>
            <a:r>
              <a:rPr lang="en-US" sz="2000" kern="0" spc="-35" dirty="0">
                <a:solidFill>
                  <a:srgbClr val="E5E0DF"/>
                </a:solidFill>
                <a:latin typeface="Inter" pitchFamily="34" charset="0"/>
                <a:ea typeface="Inter" pitchFamily="34" charset="-122"/>
                <a:cs typeface="Inter" pitchFamily="34" charset="-120"/>
              </a:rPr>
              <a:t>Collect diverse and representative datasets for training the chatbot, including real user conversations and annotated chat logs.</a:t>
            </a:r>
            <a:endParaRPr lang="en-US" sz="2000" dirty="0"/>
          </a:p>
        </p:txBody>
      </p:sp>
      <p:sp>
        <p:nvSpPr>
          <p:cNvPr id="11" name="Shape 9"/>
          <p:cNvSpPr/>
          <p:nvPr/>
        </p:nvSpPr>
        <p:spPr>
          <a:xfrm>
            <a:off x="6287631" y="3476327"/>
            <a:ext cx="777597" cy="44410"/>
          </a:xfrm>
          <a:prstGeom prst="rect">
            <a:avLst/>
          </a:prstGeom>
          <a:solidFill>
            <a:srgbClr val="140099"/>
          </a:solidFill>
          <a:ln/>
        </p:spPr>
        <p:txBody>
          <a:bodyPr/>
          <a:lstStyle/>
          <a:p>
            <a:endParaRPr lang="en-US"/>
          </a:p>
        </p:txBody>
      </p:sp>
      <p:sp>
        <p:nvSpPr>
          <p:cNvPr id="12" name="Shape 10"/>
          <p:cNvSpPr/>
          <p:nvPr/>
        </p:nvSpPr>
        <p:spPr>
          <a:xfrm>
            <a:off x="7065228" y="3248620"/>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13" name="Text 11"/>
          <p:cNvSpPr/>
          <p:nvPr/>
        </p:nvSpPr>
        <p:spPr>
          <a:xfrm>
            <a:off x="7217271" y="3290292"/>
            <a:ext cx="19585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2</a:t>
            </a:r>
            <a:endParaRPr lang="en-US" sz="2624" dirty="0"/>
          </a:p>
        </p:txBody>
      </p:sp>
      <p:sp>
        <p:nvSpPr>
          <p:cNvPr id="14" name="Text 12"/>
          <p:cNvSpPr/>
          <p:nvPr/>
        </p:nvSpPr>
        <p:spPr>
          <a:xfrm>
            <a:off x="2575917" y="3297198"/>
            <a:ext cx="3517225" cy="347186"/>
          </a:xfrm>
          <a:prstGeom prst="rect">
            <a:avLst/>
          </a:prstGeom>
          <a:noFill/>
          <a:ln/>
        </p:spPr>
        <p:txBody>
          <a:bodyPr wrap="none" rtlCol="0" anchor="t"/>
          <a:lstStyle/>
          <a:p>
            <a:pPr lvl="1" algn="r">
              <a:lnSpc>
                <a:spcPts val="2734"/>
              </a:lnSpc>
            </a:pPr>
            <a:r>
              <a:rPr lang="en-US" sz="2800" b="1" kern="0" spc="-66" dirty="0">
                <a:solidFill>
                  <a:srgbClr val="E5E0DF"/>
                </a:solidFill>
                <a:latin typeface="Inter" pitchFamily="34" charset="0"/>
                <a:ea typeface="Inter" pitchFamily="34" charset="-122"/>
                <a:cs typeface="Inter" pitchFamily="34" charset="-120"/>
              </a:rPr>
              <a:t>Cleaning and Normalization</a:t>
            </a:r>
            <a:endParaRPr lang="en-US" sz="2800" dirty="0"/>
          </a:p>
        </p:txBody>
      </p:sp>
      <p:sp>
        <p:nvSpPr>
          <p:cNvPr id="15" name="Text 13"/>
          <p:cNvSpPr/>
          <p:nvPr/>
        </p:nvSpPr>
        <p:spPr>
          <a:xfrm>
            <a:off x="2037993" y="3866555"/>
            <a:ext cx="4055150" cy="1421606"/>
          </a:xfrm>
          <a:prstGeom prst="rect">
            <a:avLst/>
          </a:prstGeom>
          <a:noFill/>
          <a:ln/>
        </p:spPr>
        <p:txBody>
          <a:bodyPr wrap="square" rtlCol="0" anchor="t"/>
          <a:lstStyle/>
          <a:p>
            <a:pPr marL="0" indent="0" algn="r">
              <a:lnSpc>
                <a:spcPts val="2799"/>
              </a:lnSpc>
              <a:buNone/>
            </a:pPr>
            <a:r>
              <a:rPr lang="en-US" sz="2000" kern="0" spc="-35" dirty="0">
                <a:solidFill>
                  <a:srgbClr val="E5E0DF"/>
                </a:solidFill>
                <a:latin typeface="Inter" pitchFamily="34" charset="0"/>
                <a:ea typeface="Inter" pitchFamily="34" charset="-122"/>
                <a:cs typeface="Inter" pitchFamily="34" charset="-120"/>
              </a:rPr>
              <a:t>Preprocess the collected data by removing noise, such as special characters, emojis, and URLs, and normalizing text to a standard format.</a:t>
            </a:r>
            <a:endParaRPr lang="en-US" sz="2000" dirty="0"/>
          </a:p>
        </p:txBody>
      </p:sp>
      <p:sp>
        <p:nvSpPr>
          <p:cNvPr id="16" name="Shape 14"/>
          <p:cNvSpPr/>
          <p:nvPr/>
        </p:nvSpPr>
        <p:spPr>
          <a:xfrm>
            <a:off x="7565172" y="5022949"/>
            <a:ext cx="777597" cy="44410"/>
          </a:xfrm>
          <a:prstGeom prst="rect">
            <a:avLst/>
          </a:prstGeom>
          <a:solidFill>
            <a:srgbClr val="140099"/>
          </a:solidFill>
          <a:ln/>
        </p:spPr>
        <p:txBody>
          <a:bodyPr/>
          <a:lstStyle/>
          <a:p>
            <a:endParaRPr lang="en-US"/>
          </a:p>
        </p:txBody>
      </p:sp>
      <p:sp>
        <p:nvSpPr>
          <p:cNvPr id="17" name="Shape 15"/>
          <p:cNvSpPr/>
          <p:nvPr/>
        </p:nvSpPr>
        <p:spPr>
          <a:xfrm>
            <a:off x="7065228" y="4795242"/>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18" name="Text 16"/>
          <p:cNvSpPr/>
          <p:nvPr/>
        </p:nvSpPr>
        <p:spPr>
          <a:xfrm>
            <a:off x="7213461" y="4836914"/>
            <a:ext cx="20347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3</a:t>
            </a:r>
            <a:endParaRPr lang="en-US" sz="2624" dirty="0"/>
          </a:p>
        </p:txBody>
      </p:sp>
      <p:sp>
        <p:nvSpPr>
          <p:cNvPr id="19" name="Text 17"/>
          <p:cNvSpPr/>
          <p:nvPr/>
        </p:nvSpPr>
        <p:spPr>
          <a:xfrm>
            <a:off x="8537258" y="4843820"/>
            <a:ext cx="4055150" cy="694373"/>
          </a:xfrm>
          <a:prstGeom prst="rect">
            <a:avLst/>
          </a:prstGeom>
          <a:noFill/>
          <a:ln/>
        </p:spPr>
        <p:txBody>
          <a:bodyPr wrap="square" rtlCol="0" anchor="t"/>
          <a:lstStyle/>
          <a:p>
            <a:pPr marL="0" indent="0" algn="l">
              <a:lnSpc>
                <a:spcPts val="2734"/>
              </a:lnSpc>
              <a:buNone/>
            </a:pPr>
            <a:r>
              <a:rPr lang="en-US" sz="2800" b="1" kern="0" spc="-66" dirty="0">
                <a:solidFill>
                  <a:srgbClr val="E5E0DF"/>
                </a:solidFill>
                <a:latin typeface="Inter" pitchFamily="34" charset="0"/>
                <a:ea typeface="Inter" pitchFamily="34" charset="-122"/>
                <a:cs typeface="Inter" pitchFamily="34" charset="-120"/>
              </a:rPr>
              <a:t>Tokenization and Lemmatization</a:t>
            </a:r>
            <a:endParaRPr lang="en-US" sz="2800" dirty="0"/>
          </a:p>
        </p:txBody>
      </p:sp>
      <p:sp>
        <p:nvSpPr>
          <p:cNvPr id="20" name="Text 18"/>
          <p:cNvSpPr/>
          <p:nvPr/>
        </p:nvSpPr>
        <p:spPr>
          <a:xfrm>
            <a:off x="8537258" y="5760363"/>
            <a:ext cx="4055150" cy="1421606"/>
          </a:xfrm>
          <a:prstGeom prst="rect">
            <a:avLst/>
          </a:prstGeom>
          <a:noFill/>
          <a:ln/>
        </p:spPr>
        <p:txBody>
          <a:bodyPr wrap="square" rtlCol="0" anchor="t"/>
          <a:lstStyle/>
          <a:p>
            <a:pPr marL="0" indent="0" algn="l">
              <a:lnSpc>
                <a:spcPts val="2799"/>
              </a:lnSpc>
              <a:buNone/>
            </a:pPr>
            <a:r>
              <a:rPr lang="en-US" sz="2000" kern="0" spc="-35" dirty="0">
                <a:solidFill>
                  <a:srgbClr val="E5E0DF"/>
                </a:solidFill>
                <a:latin typeface="Inter" pitchFamily="34" charset="0"/>
                <a:ea typeface="Inter" pitchFamily="34" charset="-122"/>
                <a:cs typeface="Inter" pitchFamily="34" charset="-120"/>
              </a:rPr>
              <a:t>Segment sentences into individual words or tokens and reduce them to their base or root forms, improving chatbot understanding.</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2037993" y="1214914"/>
            <a:ext cx="7503914" cy="694373"/>
          </a:xfrm>
          <a:prstGeom prst="rect">
            <a:avLst/>
          </a:prstGeom>
          <a:noFill/>
          <a:ln/>
        </p:spPr>
        <p:txBody>
          <a:bodyPr wrap="non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Building a Chatbot Using NLP</a:t>
            </a:r>
            <a:endParaRPr lang="en-US" sz="4374" dirty="0"/>
          </a:p>
        </p:txBody>
      </p:sp>
      <p:pic>
        <p:nvPicPr>
          <p:cNvPr id="5" name="Image 0" descr="preencoded.png"/>
          <p:cNvPicPr>
            <a:picLocks noChangeAspect="1"/>
          </p:cNvPicPr>
          <p:nvPr/>
        </p:nvPicPr>
        <p:blipFill>
          <a:blip r:embed="rId3"/>
          <a:stretch>
            <a:fillRect/>
          </a:stretch>
        </p:blipFill>
        <p:spPr>
          <a:xfrm>
            <a:off x="2037993" y="2353628"/>
            <a:ext cx="3295888" cy="2036921"/>
          </a:xfrm>
          <a:prstGeom prst="rect">
            <a:avLst/>
          </a:prstGeom>
        </p:spPr>
      </p:pic>
      <p:sp>
        <p:nvSpPr>
          <p:cNvPr id="6" name="Text 3"/>
          <p:cNvSpPr/>
          <p:nvPr/>
        </p:nvSpPr>
        <p:spPr>
          <a:xfrm>
            <a:off x="2037993" y="4668203"/>
            <a:ext cx="2221944" cy="347186"/>
          </a:xfrm>
          <a:prstGeom prst="rect">
            <a:avLst/>
          </a:prstGeom>
          <a:noFill/>
          <a:ln/>
        </p:spPr>
        <p:txBody>
          <a:bodyPr wrap="none" rtlCol="0" anchor="t"/>
          <a:lstStyle/>
          <a:p>
            <a:pPr marL="0" indent="0" algn="l">
              <a:lnSpc>
                <a:spcPts val="2734"/>
              </a:lnSpc>
              <a:buNone/>
            </a:pPr>
            <a:r>
              <a:rPr lang="en-US" sz="2800" b="1" kern="0" spc="-66" dirty="0">
                <a:solidFill>
                  <a:srgbClr val="FFFFFF"/>
                </a:solidFill>
                <a:latin typeface="Inter" pitchFamily="34" charset="0"/>
                <a:ea typeface="Inter" pitchFamily="34" charset="-122"/>
                <a:cs typeface="Inter" pitchFamily="34" charset="-120"/>
              </a:rPr>
              <a:t>Programming</a:t>
            </a:r>
            <a:endParaRPr lang="en-US" sz="2800" dirty="0"/>
          </a:p>
        </p:txBody>
      </p:sp>
      <p:sp>
        <p:nvSpPr>
          <p:cNvPr id="7" name="Text 4"/>
          <p:cNvSpPr/>
          <p:nvPr/>
        </p:nvSpPr>
        <p:spPr>
          <a:xfrm>
            <a:off x="2037993" y="5237559"/>
            <a:ext cx="3295888" cy="1777008"/>
          </a:xfrm>
          <a:prstGeom prst="rect">
            <a:avLst/>
          </a:prstGeom>
          <a:noFill/>
          <a:ln/>
        </p:spPr>
        <p:txBody>
          <a:bodyPr wrap="square" rtlCol="0" anchor="t"/>
          <a:lstStyle/>
          <a:p>
            <a:pPr marL="0" indent="0" algn="l">
              <a:lnSpc>
                <a:spcPts val="2799"/>
              </a:lnSpc>
              <a:buNone/>
            </a:pPr>
            <a:r>
              <a:rPr lang="en-US" sz="2000" kern="0" spc="-35" dirty="0">
                <a:solidFill>
                  <a:srgbClr val="E5E0DF"/>
                </a:solidFill>
                <a:latin typeface="Inter" pitchFamily="34" charset="0"/>
                <a:ea typeface="Inter" pitchFamily="34" charset="-122"/>
                <a:cs typeface="Inter" pitchFamily="34" charset="-120"/>
              </a:rPr>
              <a:t>Use programming languages like Python and libraries such as TensorFlow or PyTorch to implement NLP models, train the chatbot, and deploy it.</a:t>
            </a:r>
            <a:endParaRPr lang="en-US" sz="2000" dirty="0"/>
          </a:p>
        </p:txBody>
      </p:sp>
      <p:pic>
        <p:nvPicPr>
          <p:cNvPr id="8" name="Image 1" descr="preencoded.png"/>
          <p:cNvPicPr>
            <a:picLocks noChangeAspect="1"/>
          </p:cNvPicPr>
          <p:nvPr/>
        </p:nvPicPr>
        <p:blipFill>
          <a:blip r:embed="rId4"/>
          <a:stretch>
            <a:fillRect/>
          </a:stretch>
        </p:blipFill>
        <p:spPr>
          <a:xfrm>
            <a:off x="5667137" y="2353628"/>
            <a:ext cx="3296007" cy="2037040"/>
          </a:xfrm>
          <a:prstGeom prst="rect">
            <a:avLst/>
          </a:prstGeom>
        </p:spPr>
      </p:pic>
      <p:sp>
        <p:nvSpPr>
          <p:cNvPr id="9" name="Text 5"/>
          <p:cNvSpPr/>
          <p:nvPr/>
        </p:nvSpPr>
        <p:spPr>
          <a:xfrm>
            <a:off x="5667137" y="4668322"/>
            <a:ext cx="2221944" cy="347186"/>
          </a:xfrm>
          <a:prstGeom prst="rect">
            <a:avLst/>
          </a:prstGeom>
          <a:noFill/>
          <a:ln/>
        </p:spPr>
        <p:txBody>
          <a:bodyPr wrap="none" rtlCol="0" anchor="t"/>
          <a:lstStyle/>
          <a:p>
            <a:pPr marL="0" indent="0" algn="l">
              <a:lnSpc>
                <a:spcPts val="2734"/>
              </a:lnSpc>
              <a:buNone/>
            </a:pPr>
            <a:r>
              <a:rPr lang="en-US" sz="2800" b="1" kern="0" spc="-66" dirty="0">
                <a:solidFill>
                  <a:srgbClr val="FFFFFF"/>
                </a:solidFill>
                <a:latin typeface="Inter" pitchFamily="34" charset="0"/>
                <a:ea typeface="Inter" pitchFamily="34" charset="-122"/>
                <a:cs typeface="Inter" pitchFamily="34" charset="-120"/>
              </a:rPr>
              <a:t>User Interface</a:t>
            </a:r>
            <a:endParaRPr lang="en-US" sz="2800" dirty="0"/>
          </a:p>
        </p:txBody>
      </p:sp>
      <p:sp>
        <p:nvSpPr>
          <p:cNvPr id="10" name="Text 6"/>
          <p:cNvSpPr/>
          <p:nvPr/>
        </p:nvSpPr>
        <p:spPr>
          <a:xfrm>
            <a:off x="5667137" y="5237678"/>
            <a:ext cx="3296007" cy="1421606"/>
          </a:xfrm>
          <a:prstGeom prst="rect">
            <a:avLst/>
          </a:prstGeom>
          <a:noFill/>
          <a:ln/>
        </p:spPr>
        <p:txBody>
          <a:bodyPr wrap="square" rtlCol="0" anchor="t"/>
          <a:lstStyle/>
          <a:p>
            <a:pPr marL="0" indent="0" algn="l">
              <a:lnSpc>
                <a:spcPts val="2799"/>
              </a:lnSpc>
              <a:buNone/>
            </a:pPr>
            <a:r>
              <a:rPr lang="en-US" sz="2000" kern="0" spc="-35" dirty="0">
                <a:solidFill>
                  <a:srgbClr val="E5E0DF"/>
                </a:solidFill>
                <a:latin typeface="Inter" pitchFamily="34" charset="0"/>
                <a:ea typeface="Inter" pitchFamily="34" charset="-122"/>
                <a:cs typeface="Inter" pitchFamily="34" charset="-120"/>
              </a:rPr>
              <a:t>Design an intuitive and visually appealing interface to enhance chatbot interactions and improve user experience.</a:t>
            </a:r>
            <a:endParaRPr lang="en-US" sz="2000" dirty="0"/>
          </a:p>
        </p:txBody>
      </p:sp>
      <p:pic>
        <p:nvPicPr>
          <p:cNvPr id="11" name="Image 2" descr="preencoded.png"/>
          <p:cNvPicPr>
            <a:picLocks noChangeAspect="1"/>
          </p:cNvPicPr>
          <p:nvPr/>
        </p:nvPicPr>
        <p:blipFill>
          <a:blip r:embed="rId5"/>
          <a:stretch>
            <a:fillRect/>
          </a:stretch>
        </p:blipFill>
        <p:spPr>
          <a:xfrm>
            <a:off x="9296400" y="2353628"/>
            <a:ext cx="3296007" cy="2037040"/>
          </a:xfrm>
          <a:prstGeom prst="rect">
            <a:avLst/>
          </a:prstGeom>
        </p:spPr>
      </p:pic>
      <p:sp>
        <p:nvSpPr>
          <p:cNvPr id="12" name="Text 7"/>
          <p:cNvSpPr/>
          <p:nvPr/>
        </p:nvSpPr>
        <p:spPr>
          <a:xfrm>
            <a:off x="9296400" y="4668322"/>
            <a:ext cx="2221944" cy="347186"/>
          </a:xfrm>
          <a:prstGeom prst="rect">
            <a:avLst/>
          </a:prstGeom>
          <a:noFill/>
          <a:ln/>
        </p:spPr>
        <p:txBody>
          <a:bodyPr wrap="none" rtlCol="0" anchor="t"/>
          <a:lstStyle/>
          <a:p>
            <a:pPr marL="0" indent="0" algn="l">
              <a:lnSpc>
                <a:spcPts val="2734"/>
              </a:lnSpc>
              <a:buNone/>
            </a:pPr>
            <a:r>
              <a:rPr lang="en-US" sz="2800" b="1" kern="0" spc="-66" dirty="0">
                <a:solidFill>
                  <a:srgbClr val="FFFFFF"/>
                </a:solidFill>
                <a:latin typeface="Inter" pitchFamily="34" charset="0"/>
                <a:ea typeface="Inter" pitchFamily="34" charset="-122"/>
                <a:cs typeface="Inter" pitchFamily="34" charset="-120"/>
              </a:rPr>
              <a:t>Deployment</a:t>
            </a:r>
            <a:endParaRPr lang="en-US" sz="2800" dirty="0"/>
          </a:p>
        </p:txBody>
      </p:sp>
      <p:sp>
        <p:nvSpPr>
          <p:cNvPr id="13" name="Text 8"/>
          <p:cNvSpPr/>
          <p:nvPr/>
        </p:nvSpPr>
        <p:spPr>
          <a:xfrm>
            <a:off x="9296400" y="5237678"/>
            <a:ext cx="3296007" cy="1421606"/>
          </a:xfrm>
          <a:prstGeom prst="rect">
            <a:avLst/>
          </a:prstGeom>
          <a:noFill/>
          <a:ln/>
        </p:spPr>
        <p:txBody>
          <a:bodyPr wrap="square" rtlCol="0" anchor="t"/>
          <a:lstStyle/>
          <a:p>
            <a:pPr marL="0" indent="0" algn="l">
              <a:lnSpc>
                <a:spcPts val="2799"/>
              </a:lnSpc>
              <a:buNone/>
            </a:pPr>
            <a:r>
              <a:rPr lang="en-US" sz="2000" kern="0" spc="-35" dirty="0">
                <a:solidFill>
                  <a:srgbClr val="E5E0DF"/>
                </a:solidFill>
                <a:latin typeface="Inter" pitchFamily="34" charset="0"/>
                <a:ea typeface="Inter" pitchFamily="34" charset="-122"/>
                <a:cs typeface="Inter" pitchFamily="34" charset="-120"/>
              </a:rPr>
              <a:t>Host the chatbot on a server to make it accessible online, ensuring it can handle user requests in real time.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0"/>
            <a:ext cx="14630400"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2037993" y="1611392"/>
            <a:ext cx="10554414" cy="1388745"/>
          </a:xfrm>
          <a:prstGeom prst="rect">
            <a:avLst/>
          </a:prstGeom>
          <a:noFill/>
          <a:ln/>
        </p:spPr>
        <p:txBody>
          <a:bodyPr wrap="squar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Evaluating and Improving Chatbot Performance</a:t>
            </a:r>
            <a:endParaRPr lang="en-US" sz="4374" dirty="0"/>
          </a:p>
        </p:txBody>
      </p:sp>
      <p:sp>
        <p:nvSpPr>
          <p:cNvPr id="5" name="Shape 3"/>
          <p:cNvSpPr/>
          <p:nvPr/>
        </p:nvSpPr>
        <p:spPr>
          <a:xfrm>
            <a:off x="2037993" y="3444477"/>
            <a:ext cx="3356252" cy="3357375"/>
          </a:xfrm>
          <a:prstGeom prst="roundRect">
            <a:avLst>
              <a:gd name="adj" fmla="val 3151"/>
            </a:avLst>
          </a:prstGeom>
          <a:solidFill>
            <a:srgbClr val="110080"/>
          </a:solidFill>
          <a:ln w="13811">
            <a:solidFill>
              <a:srgbClr val="140099"/>
            </a:solidFill>
            <a:prstDash val="solid"/>
          </a:ln>
        </p:spPr>
        <p:txBody>
          <a:bodyPr/>
          <a:lstStyle/>
          <a:p>
            <a:endParaRPr lang="en-US"/>
          </a:p>
        </p:txBody>
      </p:sp>
      <p:sp>
        <p:nvSpPr>
          <p:cNvPr id="6" name="Text 4"/>
          <p:cNvSpPr/>
          <p:nvPr/>
        </p:nvSpPr>
        <p:spPr>
          <a:xfrm>
            <a:off x="2273975" y="3680460"/>
            <a:ext cx="2874526" cy="347186"/>
          </a:xfrm>
          <a:prstGeom prst="rect">
            <a:avLst/>
          </a:prstGeom>
          <a:noFill/>
          <a:ln/>
        </p:spPr>
        <p:txBody>
          <a:bodyPr wrap="none" rtlCol="0" anchor="t"/>
          <a:lstStyle/>
          <a:p>
            <a:pPr marL="0" indent="0">
              <a:lnSpc>
                <a:spcPts val="2734"/>
              </a:lnSpc>
              <a:buNone/>
            </a:pPr>
            <a:r>
              <a:rPr lang="en-US" sz="2800" b="1" kern="0" spc="-66" dirty="0">
                <a:solidFill>
                  <a:srgbClr val="E5E0DF"/>
                </a:solidFill>
                <a:latin typeface="Inter" pitchFamily="34" charset="0"/>
                <a:ea typeface="Inter" pitchFamily="34" charset="-122"/>
                <a:cs typeface="Inter" pitchFamily="34" charset="-120"/>
              </a:rPr>
              <a:t>Accuracy Assessment</a:t>
            </a:r>
            <a:endParaRPr lang="en-US" sz="2800" dirty="0"/>
          </a:p>
        </p:txBody>
      </p:sp>
      <p:sp>
        <p:nvSpPr>
          <p:cNvPr id="7" name="Text 5"/>
          <p:cNvSpPr/>
          <p:nvPr/>
        </p:nvSpPr>
        <p:spPr>
          <a:xfrm>
            <a:off x="2273975" y="4249817"/>
            <a:ext cx="2898100" cy="1777008"/>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Measure the accuracy of the chatbot's responses by comparing them against human-generated answers to assess performance.</a:t>
            </a:r>
            <a:endParaRPr lang="en-US" sz="2000" dirty="0"/>
          </a:p>
        </p:txBody>
      </p:sp>
      <p:sp>
        <p:nvSpPr>
          <p:cNvPr id="8" name="Shape 6"/>
          <p:cNvSpPr/>
          <p:nvPr/>
        </p:nvSpPr>
        <p:spPr>
          <a:xfrm>
            <a:off x="5630228" y="3550777"/>
            <a:ext cx="3356252" cy="3357374"/>
          </a:xfrm>
          <a:prstGeom prst="roundRect">
            <a:avLst>
              <a:gd name="adj" fmla="val 3151"/>
            </a:avLst>
          </a:prstGeom>
          <a:solidFill>
            <a:srgbClr val="110080"/>
          </a:solidFill>
          <a:ln w="13811">
            <a:solidFill>
              <a:srgbClr val="140099"/>
            </a:solidFill>
            <a:prstDash val="solid"/>
          </a:ln>
        </p:spPr>
        <p:txBody>
          <a:bodyPr/>
          <a:lstStyle/>
          <a:p>
            <a:endParaRPr lang="en-US" dirty="0"/>
          </a:p>
        </p:txBody>
      </p:sp>
      <p:sp>
        <p:nvSpPr>
          <p:cNvPr id="9" name="Text 7"/>
          <p:cNvSpPr/>
          <p:nvPr/>
        </p:nvSpPr>
        <p:spPr>
          <a:xfrm>
            <a:off x="5866209" y="3680460"/>
            <a:ext cx="2221944" cy="347186"/>
          </a:xfrm>
          <a:prstGeom prst="rect">
            <a:avLst/>
          </a:prstGeom>
          <a:noFill/>
          <a:ln/>
        </p:spPr>
        <p:txBody>
          <a:bodyPr wrap="none" rtlCol="0" anchor="t"/>
          <a:lstStyle/>
          <a:p>
            <a:pPr marL="0" indent="0">
              <a:lnSpc>
                <a:spcPts val="2734"/>
              </a:lnSpc>
              <a:buNone/>
            </a:pPr>
            <a:r>
              <a:rPr lang="en-US" sz="2800" b="1" kern="0" spc="-66" dirty="0">
                <a:solidFill>
                  <a:srgbClr val="E5E0DF"/>
                </a:solidFill>
                <a:latin typeface="Inter" pitchFamily="34" charset="0"/>
                <a:ea typeface="Inter" pitchFamily="34" charset="-122"/>
                <a:cs typeface="Inter" pitchFamily="34" charset="-120"/>
              </a:rPr>
              <a:t>User Feedback</a:t>
            </a:r>
            <a:endParaRPr lang="en-US" sz="2800" dirty="0"/>
          </a:p>
        </p:txBody>
      </p:sp>
      <p:sp>
        <p:nvSpPr>
          <p:cNvPr id="10" name="Text 8"/>
          <p:cNvSpPr/>
          <p:nvPr/>
        </p:nvSpPr>
        <p:spPr>
          <a:xfrm>
            <a:off x="5866209" y="4249817"/>
            <a:ext cx="2898100" cy="1777008"/>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Solicit user feedback through surveys or feedback forms to understand their satisfaction levels and gather insights for improvement.</a:t>
            </a:r>
            <a:endParaRPr lang="en-US" sz="2000" dirty="0"/>
          </a:p>
        </p:txBody>
      </p:sp>
      <p:sp>
        <p:nvSpPr>
          <p:cNvPr id="11" name="Shape 9"/>
          <p:cNvSpPr/>
          <p:nvPr/>
        </p:nvSpPr>
        <p:spPr>
          <a:xfrm>
            <a:off x="9222462" y="3444477"/>
            <a:ext cx="3370064" cy="3726343"/>
          </a:xfrm>
          <a:prstGeom prst="roundRect">
            <a:avLst>
              <a:gd name="adj" fmla="val 3151"/>
            </a:avLst>
          </a:prstGeom>
          <a:solidFill>
            <a:srgbClr val="110080"/>
          </a:solidFill>
          <a:ln w="13811">
            <a:solidFill>
              <a:srgbClr val="140099"/>
            </a:solidFill>
            <a:prstDash val="solid"/>
          </a:ln>
        </p:spPr>
        <p:txBody>
          <a:bodyPr/>
          <a:lstStyle/>
          <a:p>
            <a:endParaRPr lang="en-US"/>
          </a:p>
        </p:txBody>
      </p:sp>
      <p:sp>
        <p:nvSpPr>
          <p:cNvPr id="12" name="Text 10"/>
          <p:cNvSpPr/>
          <p:nvPr/>
        </p:nvSpPr>
        <p:spPr>
          <a:xfrm>
            <a:off x="9458444" y="3680460"/>
            <a:ext cx="2668786" cy="347186"/>
          </a:xfrm>
          <a:prstGeom prst="rect">
            <a:avLst/>
          </a:prstGeom>
          <a:noFill/>
          <a:ln/>
        </p:spPr>
        <p:txBody>
          <a:bodyPr wrap="none" rtlCol="0" anchor="t"/>
          <a:lstStyle/>
          <a:p>
            <a:pPr marL="0" indent="0">
              <a:lnSpc>
                <a:spcPts val="2734"/>
              </a:lnSpc>
              <a:buNone/>
            </a:pPr>
            <a:r>
              <a:rPr lang="en-US" sz="2800" b="1" kern="0" spc="-66" dirty="0">
                <a:solidFill>
                  <a:srgbClr val="E5E0DF"/>
                </a:solidFill>
                <a:latin typeface="Inter" pitchFamily="34" charset="0"/>
                <a:ea typeface="Inter" pitchFamily="34" charset="-122"/>
                <a:cs typeface="Inter" pitchFamily="34" charset="-120"/>
              </a:rPr>
              <a:t>Continuous Learning</a:t>
            </a:r>
            <a:endParaRPr lang="en-US" sz="2800" dirty="0"/>
          </a:p>
        </p:txBody>
      </p:sp>
      <p:sp>
        <p:nvSpPr>
          <p:cNvPr id="13" name="Text 11"/>
          <p:cNvSpPr/>
          <p:nvPr/>
        </p:nvSpPr>
        <p:spPr>
          <a:xfrm>
            <a:off x="9458444" y="4249817"/>
            <a:ext cx="2898100" cy="2132409"/>
          </a:xfrm>
          <a:prstGeom prst="rect">
            <a:avLst/>
          </a:prstGeom>
          <a:noFill/>
          <a:ln/>
        </p:spPr>
        <p:txBody>
          <a:bodyPr wrap="square" rtlCol="0" anchor="t"/>
          <a:lstStyle/>
          <a:p>
            <a:pPr marL="0" indent="0">
              <a:lnSpc>
                <a:spcPts val="2799"/>
              </a:lnSpc>
              <a:buNone/>
            </a:pPr>
            <a:r>
              <a:rPr lang="en-US" sz="2000" kern="0" spc="-35" dirty="0">
                <a:solidFill>
                  <a:srgbClr val="E5E0DF"/>
                </a:solidFill>
                <a:latin typeface="Inter" pitchFamily="34" charset="0"/>
                <a:ea typeface="Inter" pitchFamily="34" charset="-122"/>
                <a:cs typeface="Inter" pitchFamily="34" charset="-120"/>
              </a:rPr>
              <a:t>Implement mechanisms for the chatbot to learn and improve over time, incorporating user feedback and updating the underlying NLP models.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C0C"/>
          </a:solidFill>
          <a:ln/>
        </p:spPr>
        <p:txBody>
          <a:bodyPr/>
          <a:lstStyle/>
          <a:p>
            <a:endParaRPr lang="en-US"/>
          </a:p>
        </p:txBody>
      </p:sp>
      <p:sp>
        <p:nvSpPr>
          <p:cNvPr id="3" name="Shape 1"/>
          <p:cNvSpPr/>
          <p:nvPr/>
        </p:nvSpPr>
        <p:spPr>
          <a:xfrm>
            <a:off x="0" y="-32084"/>
            <a:ext cx="14630400" cy="8229600"/>
          </a:xfrm>
          <a:prstGeom prst="rect">
            <a:avLst/>
          </a:prstGeom>
          <a:solidFill>
            <a:srgbClr val="272525"/>
          </a:solidFill>
          <a:ln w="13811">
            <a:solidFill>
              <a:srgbClr val="565151"/>
            </a:solidFill>
            <a:prstDash val="solid"/>
          </a:ln>
        </p:spPr>
        <p:txBody>
          <a:bodyPr/>
          <a:lstStyle/>
          <a:p>
            <a:endParaRPr lang="en-US"/>
          </a:p>
        </p:txBody>
      </p:sp>
      <p:sp>
        <p:nvSpPr>
          <p:cNvPr id="4" name="Text 2"/>
          <p:cNvSpPr/>
          <p:nvPr/>
        </p:nvSpPr>
        <p:spPr>
          <a:xfrm>
            <a:off x="2037993" y="910114"/>
            <a:ext cx="9520952" cy="694373"/>
          </a:xfrm>
          <a:prstGeom prst="rect">
            <a:avLst/>
          </a:prstGeom>
          <a:noFill/>
          <a:ln/>
        </p:spPr>
        <p:txBody>
          <a:bodyPr wrap="none" rtlCol="0" anchor="t"/>
          <a:lstStyle/>
          <a:p>
            <a:pPr marL="0" indent="0">
              <a:lnSpc>
                <a:spcPts val="5468"/>
              </a:lnSpc>
              <a:buNone/>
            </a:pPr>
            <a:r>
              <a:rPr lang="en-US" sz="4374" b="1" kern="0" spc="-131" dirty="0">
                <a:solidFill>
                  <a:srgbClr val="FFFFFF"/>
                </a:solidFill>
                <a:latin typeface="Inter" pitchFamily="34" charset="0"/>
                <a:ea typeface="Inter" pitchFamily="34" charset="-122"/>
                <a:cs typeface="Inter" pitchFamily="34" charset="-120"/>
              </a:rPr>
              <a:t>Future Trends in Chatbot Technology</a:t>
            </a:r>
            <a:endParaRPr lang="en-US" sz="4374" dirty="0"/>
          </a:p>
        </p:txBody>
      </p:sp>
      <p:sp>
        <p:nvSpPr>
          <p:cNvPr id="5" name="Shape 3"/>
          <p:cNvSpPr/>
          <p:nvPr/>
        </p:nvSpPr>
        <p:spPr>
          <a:xfrm>
            <a:off x="7293054" y="2048827"/>
            <a:ext cx="44410" cy="5270540"/>
          </a:xfrm>
          <a:prstGeom prst="rect">
            <a:avLst/>
          </a:prstGeom>
          <a:solidFill>
            <a:srgbClr val="140099"/>
          </a:solidFill>
          <a:ln/>
        </p:spPr>
        <p:txBody>
          <a:bodyPr/>
          <a:lstStyle/>
          <a:p>
            <a:endParaRPr lang="en-US"/>
          </a:p>
        </p:txBody>
      </p:sp>
      <p:sp>
        <p:nvSpPr>
          <p:cNvPr id="6" name="Shape 4"/>
          <p:cNvSpPr/>
          <p:nvPr/>
        </p:nvSpPr>
        <p:spPr>
          <a:xfrm>
            <a:off x="7565172" y="2450128"/>
            <a:ext cx="777597" cy="44410"/>
          </a:xfrm>
          <a:prstGeom prst="rect">
            <a:avLst/>
          </a:prstGeom>
          <a:solidFill>
            <a:srgbClr val="140099"/>
          </a:solidFill>
          <a:ln/>
        </p:spPr>
        <p:txBody>
          <a:bodyPr/>
          <a:lstStyle/>
          <a:p>
            <a:endParaRPr lang="en-US"/>
          </a:p>
        </p:txBody>
      </p:sp>
      <p:sp>
        <p:nvSpPr>
          <p:cNvPr id="7" name="Shape 5"/>
          <p:cNvSpPr/>
          <p:nvPr/>
        </p:nvSpPr>
        <p:spPr>
          <a:xfrm>
            <a:off x="7065228" y="2222421"/>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8" name="Text 6"/>
          <p:cNvSpPr/>
          <p:nvPr/>
        </p:nvSpPr>
        <p:spPr>
          <a:xfrm>
            <a:off x="7236321" y="2264093"/>
            <a:ext cx="15775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1</a:t>
            </a:r>
            <a:endParaRPr lang="en-US" sz="2624" dirty="0"/>
          </a:p>
        </p:txBody>
      </p:sp>
      <p:sp>
        <p:nvSpPr>
          <p:cNvPr id="9" name="Text 7"/>
          <p:cNvSpPr/>
          <p:nvPr/>
        </p:nvSpPr>
        <p:spPr>
          <a:xfrm>
            <a:off x="8537258" y="2270998"/>
            <a:ext cx="2221944" cy="347186"/>
          </a:xfrm>
          <a:prstGeom prst="rect">
            <a:avLst/>
          </a:prstGeom>
          <a:noFill/>
          <a:ln/>
        </p:spPr>
        <p:txBody>
          <a:bodyPr wrap="none" rtlCol="0" anchor="t"/>
          <a:lstStyle/>
          <a:p>
            <a:pPr marL="0" indent="0" algn="l">
              <a:lnSpc>
                <a:spcPts val="2734"/>
              </a:lnSpc>
              <a:buNone/>
            </a:pPr>
            <a:r>
              <a:rPr lang="en-US" sz="2800" b="1" kern="0" spc="-66" dirty="0">
                <a:solidFill>
                  <a:srgbClr val="E5E0DF"/>
                </a:solidFill>
                <a:latin typeface="Inter" pitchFamily="34" charset="0"/>
                <a:ea typeface="Inter" pitchFamily="34" charset="-122"/>
                <a:cs typeface="Inter" pitchFamily="34" charset="-120"/>
              </a:rPr>
              <a:t>Voice Activation</a:t>
            </a:r>
            <a:endParaRPr lang="en-US" sz="2800" dirty="0"/>
          </a:p>
        </p:txBody>
      </p:sp>
      <p:sp>
        <p:nvSpPr>
          <p:cNvPr id="10" name="Text 8"/>
          <p:cNvSpPr/>
          <p:nvPr/>
        </p:nvSpPr>
        <p:spPr>
          <a:xfrm>
            <a:off x="8537258" y="2840355"/>
            <a:ext cx="4055150" cy="1421606"/>
          </a:xfrm>
          <a:prstGeom prst="rect">
            <a:avLst/>
          </a:prstGeom>
          <a:noFill/>
          <a:ln/>
        </p:spPr>
        <p:txBody>
          <a:bodyPr wrap="square" rtlCol="0" anchor="t"/>
          <a:lstStyle/>
          <a:p>
            <a:pPr marL="0" indent="0" algn="l">
              <a:lnSpc>
                <a:spcPts val="2799"/>
              </a:lnSpc>
              <a:buNone/>
            </a:pPr>
            <a:r>
              <a:rPr lang="en-US" sz="2000" kern="0" spc="-35" dirty="0">
                <a:solidFill>
                  <a:srgbClr val="E5E0DF"/>
                </a:solidFill>
                <a:latin typeface="Inter" pitchFamily="34" charset="0"/>
                <a:ea typeface="Inter" pitchFamily="34" charset="-122"/>
                <a:cs typeface="Inter" pitchFamily="34" charset="-120"/>
              </a:rPr>
              <a:t>Chatbots will become more voice-activated, allowing users to interact through speech, enabling hands-free and convenient conversations.</a:t>
            </a:r>
            <a:endParaRPr lang="en-US" sz="2000" dirty="0"/>
          </a:p>
        </p:txBody>
      </p:sp>
      <p:sp>
        <p:nvSpPr>
          <p:cNvPr id="11" name="Shape 9"/>
          <p:cNvSpPr/>
          <p:nvPr/>
        </p:nvSpPr>
        <p:spPr>
          <a:xfrm>
            <a:off x="6287631" y="3560981"/>
            <a:ext cx="777597" cy="44410"/>
          </a:xfrm>
          <a:prstGeom prst="rect">
            <a:avLst/>
          </a:prstGeom>
          <a:solidFill>
            <a:srgbClr val="140099"/>
          </a:solidFill>
          <a:ln/>
        </p:spPr>
        <p:txBody>
          <a:bodyPr/>
          <a:lstStyle/>
          <a:p>
            <a:endParaRPr lang="en-US"/>
          </a:p>
        </p:txBody>
      </p:sp>
      <p:sp>
        <p:nvSpPr>
          <p:cNvPr id="12" name="Shape 10"/>
          <p:cNvSpPr/>
          <p:nvPr/>
        </p:nvSpPr>
        <p:spPr>
          <a:xfrm>
            <a:off x="7065228" y="3333274"/>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13" name="Text 11"/>
          <p:cNvSpPr/>
          <p:nvPr/>
        </p:nvSpPr>
        <p:spPr>
          <a:xfrm>
            <a:off x="7217271" y="3374946"/>
            <a:ext cx="19585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2</a:t>
            </a:r>
            <a:endParaRPr lang="en-US" sz="2624" dirty="0"/>
          </a:p>
        </p:txBody>
      </p:sp>
      <p:sp>
        <p:nvSpPr>
          <p:cNvPr id="14" name="Text 12"/>
          <p:cNvSpPr/>
          <p:nvPr/>
        </p:nvSpPr>
        <p:spPr>
          <a:xfrm>
            <a:off x="3289340" y="3381851"/>
            <a:ext cx="2803803" cy="347186"/>
          </a:xfrm>
          <a:prstGeom prst="rect">
            <a:avLst/>
          </a:prstGeom>
          <a:noFill/>
          <a:ln/>
        </p:spPr>
        <p:txBody>
          <a:bodyPr wrap="none" rtlCol="0" anchor="t"/>
          <a:lstStyle/>
          <a:p>
            <a:pPr marL="0" indent="0" algn="r">
              <a:lnSpc>
                <a:spcPts val="2734"/>
              </a:lnSpc>
              <a:buNone/>
            </a:pPr>
            <a:r>
              <a:rPr lang="en-US" sz="2800" b="1" kern="0" spc="-66" dirty="0">
                <a:solidFill>
                  <a:srgbClr val="E5E0DF"/>
                </a:solidFill>
                <a:latin typeface="Inter" pitchFamily="34" charset="0"/>
                <a:ea typeface="Inter" pitchFamily="34" charset="-122"/>
                <a:cs typeface="Inter" pitchFamily="34" charset="-120"/>
              </a:rPr>
              <a:t>Emotional Intelligence</a:t>
            </a:r>
            <a:endParaRPr lang="en-US" sz="2800" dirty="0"/>
          </a:p>
        </p:txBody>
      </p:sp>
      <p:sp>
        <p:nvSpPr>
          <p:cNvPr id="15" name="Text 13"/>
          <p:cNvSpPr/>
          <p:nvPr/>
        </p:nvSpPr>
        <p:spPr>
          <a:xfrm>
            <a:off x="2037993" y="3951208"/>
            <a:ext cx="4055150" cy="1777008"/>
          </a:xfrm>
          <a:prstGeom prst="rect">
            <a:avLst/>
          </a:prstGeom>
          <a:noFill/>
          <a:ln/>
        </p:spPr>
        <p:txBody>
          <a:bodyPr wrap="square" rtlCol="0" anchor="t"/>
          <a:lstStyle/>
          <a:p>
            <a:pPr marL="0" indent="0" algn="r">
              <a:lnSpc>
                <a:spcPts val="2799"/>
              </a:lnSpc>
              <a:buNone/>
            </a:pPr>
            <a:r>
              <a:rPr lang="en-US" sz="2000" kern="0" spc="-35" dirty="0">
                <a:solidFill>
                  <a:srgbClr val="E5E0DF"/>
                </a:solidFill>
                <a:latin typeface="Inter" pitchFamily="34" charset="0"/>
                <a:ea typeface="Inter" pitchFamily="34" charset="-122"/>
                <a:cs typeface="Inter" pitchFamily="34" charset="-120"/>
              </a:rPr>
              <a:t>Chatbots will develop emotional intelligence, understanding and responding to users' emotions, creating more personalized and empathetic interactions.</a:t>
            </a:r>
            <a:endParaRPr lang="en-US" sz="2000" dirty="0"/>
          </a:p>
        </p:txBody>
      </p:sp>
      <p:sp>
        <p:nvSpPr>
          <p:cNvPr id="16" name="Shape 14"/>
          <p:cNvSpPr/>
          <p:nvPr/>
        </p:nvSpPr>
        <p:spPr>
          <a:xfrm>
            <a:off x="7565172" y="5107603"/>
            <a:ext cx="777597" cy="44410"/>
          </a:xfrm>
          <a:prstGeom prst="rect">
            <a:avLst/>
          </a:prstGeom>
          <a:solidFill>
            <a:srgbClr val="140099"/>
          </a:solidFill>
          <a:ln/>
        </p:spPr>
        <p:txBody>
          <a:bodyPr/>
          <a:lstStyle/>
          <a:p>
            <a:endParaRPr lang="en-US"/>
          </a:p>
        </p:txBody>
      </p:sp>
      <p:sp>
        <p:nvSpPr>
          <p:cNvPr id="17" name="Shape 15"/>
          <p:cNvSpPr/>
          <p:nvPr/>
        </p:nvSpPr>
        <p:spPr>
          <a:xfrm>
            <a:off x="7065228" y="4879896"/>
            <a:ext cx="499943" cy="499943"/>
          </a:xfrm>
          <a:prstGeom prst="roundRect">
            <a:avLst>
              <a:gd name="adj" fmla="val 20000"/>
            </a:avLst>
          </a:prstGeom>
          <a:solidFill>
            <a:srgbClr val="110080"/>
          </a:solidFill>
          <a:ln w="13811">
            <a:solidFill>
              <a:srgbClr val="140099"/>
            </a:solidFill>
            <a:prstDash val="solid"/>
          </a:ln>
        </p:spPr>
        <p:txBody>
          <a:bodyPr/>
          <a:lstStyle/>
          <a:p>
            <a:endParaRPr lang="en-US"/>
          </a:p>
        </p:txBody>
      </p:sp>
      <p:sp>
        <p:nvSpPr>
          <p:cNvPr id="18" name="Text 16"/>
          <p:cNvSpPr/>
          <p:nvPr/>
        </p:nvSpPr>
        <p:spPr>
          <a:xfrm>
            <a:off x="7213461" y="4921568"/>
            <a:ext cx="203478" cy="416481"/>
          </a:xfrm>
          <a:prstGeom prst="rect">
            <a:avLst/>
          </a:prstGeom>
          <a:noFill/>
          <a:ln/>
        </p:spPr>
        <p:txBody>
          <a:bodyPr wrap="none" rtlCol="0" anchor="t"/>
          <a:lstStyle/>
          <a:p>
            <a:pPr marL="0" indent="0" algn="ctr">
              <a:lnSpc>
                <a:spcPts val="3281"/>
              </a:lnSpc>
              <a:buNone/>
            </a:pPr>
            <a:r>
              <a:rPr lang="en-US" sz="2624" b="1" kern="0" spc="-79" dirty="0">
                <a:solidFill>
                  <a:srgbClr val="E5E0DF"/>
                </a:solidFill>
                <a:latin typeface="Inter" pitchFamily="34" charset="0"/>
                <a:ea typeface="Inter" pitchFamily="34" charset="-122"/>
                <a:cs typeface="Inter" pitchFamily="34" charset="-120"/>
              </a:rPr>
              <a:t>3</a:t>
            </a:r>
            <a:endParaRPr lang="en-US" sz="2624" dirty="0"/>
          </a:p>
        </p:txBody>
      </p:sp>
      <p:sp>
        <p:nvSpPr>
          <p:cNvPr id="19" name="Text 17"/>
          <p:cNvSpPr/>
          <p:nvPr/>
        </p:nvSpPr>
        <p:spPr>
          <a:xfrm>
            <a:off x="8537258" y="4928473"/>
            <a:ext cx="3100983" cy="347186"/>
          </a:xfrm>
          <a:prstGeom prst="rect">
            <a:avLst/>
          </a:prstGeom>
          <a:noFill/>
          <a:ln/>
        </p:spPr>
        <p:txBody>
          <a:bodyPr wrap="none" rtlCol="0" anchor="t"/>
          <a:lstStyle/>
          <a:p>
            <a:pPr marL="0" indent="0" algn="l">
              <a:lnSpc>
                <a:spcPts val="2734"/>
              </a:lnSpc>
              <a:buNone/>
            </a:pPr>
            <a:r>
              <a:rPr lang="en-US" sz="2800" b="1" kern="0" spc="-66" dirty="0">
                <a:solidFill>
                  <a:srgbClr val="E5E0DF"/>
                </a:solidFill>
                <a:latin typeface="Inter" pitchFamily="34" charset="0"/>
                <a:ea typeface="Inter" pitchFamily="34" charset="-122"/>
                <a:cs typeface="Inter" pitchFamily="34" charset="-120"/>
              </a:rPr>
              <a:t>Multi-Language Support</a:t>
            </a:r>
            <a:endParaRPr lang="en-US" sz="2800" dirty="0"/>
          </a:p>
        </p:txBody>
      </p:sp>
      <p:sp>
        <p:nvSpPr>
          <p:cNvPr id="20" name="Text 18"/>
          <p:cNvSpPr/>
          <p:nvPr/>
        </p:nvSpPr>
        <p:spPr>
          <a:xfrm>
            <a:off x="8537258" y="5497830"/>
            <a:ext cx="4055150" cy="1421606"/>
          </a:xfrm>
          <a:prstGeom prst="rect">
            <a:avLst/>
          </a:prstGeom>
          <a:noFill/>
          <a:ln/>
        </p:spPr>
        <p:txBody>
          <a:bodyPr wrap="square" rtlCol="0" anchor="t"/>
          <a:lstStyle/>
          <a:p>
            <a:pPr marL="0" indent="0" algn="l">
              <a:lnSpc>
                <a:spcPts val="2799"/>
              </a:lnSpc>
              <a:buNone/>
            </a:pPr>
            <a:r>
              <a:rPr lang="en-US" sz="2000" kern="0" spc="-35" dirty="0">
                <a:solidFill>
                  <a:srgbClr val="E5E0DF"/>
                </a:solidFill>
                <a:latin typeface="Inter" pitchFamily="34" charset="0"/>
                <a:ea typeface="Inter" pitchFamily="34" charset="-122"/>
                <a:cs typeface="Inter" pitchFamily="34" charset="-120"/>
              </a:rPr>
              <a:t>Chatbots will be able to communicate and understand multiple languages, facilitating global and multilingual conversations.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495</Words>
  <Application>Microsoft Office PowerPoint</Application>
  <PresentationFormat>Custom</PresentationFormat>
  <Paragraphs>61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Ambedkar</dc:creator>
  <cp:lastModifiedBy>pradeep13532</cp:lastModifiedBy>
  <cp:revision>7</cp:revision>
  <dcterms:created xsi:type="dcterms:W3CDTF">2023-10-17T05:00:30Z</dcterms:created>
  <dcterms:modified xsi:type="dcterms:W3CDTF">2023-10-17T05:27:21Z</dcterms:modified>
</cp:coreProperties>
</file>